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5" Type="http://schemas.openxmlformats.org/officeDocument/2006/relationships/viewProps" Target="viewProps.xml" /><Relationship Id="rId4" Type="http://schemas.openxmlformats.org/officeDocument/2006/relationships/presProps" Target="presProps.xml" /><Relationship Id="rId1" Type="http://schemas.openxmlformats.org/officeDocument/2006/relationships/slideMaster" Target="slideMasters/slideMaster1.xml" /><Relationship Id="rId7" Type="http://schemas.openxmlformats.org/officeDocument/2006/relationships/tableStyles" Target="tableStyles.xml" /><Relationship Id="rId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Business Ethics and Integrity Training</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First Digital — DWx Policy Manager</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Business Ethics &amp; Integrity</a:t>
            </a:r>
          </a:p>
          <a:p>
            <a:pPr lvl="0" indent="0" marL="0">
              <a:buNone/>
            </a:pPr>
            <a:r>
              <a:rPr/>
              <a:t>First Digital — Annual Compliance Training 2026</a:t>
            </a:r>
          </a:p>
          <a:p>
            <a:pPr lvl="0" indent="0" marL="0">
              <a:buNone/>
            </a:pPr>
            <a:r>
              <a:rPr/>
              <a:t>Acting with integrity is the foundation of everything we do. This training covers our ethical obligations, conflicts of interest, gifts and hospitality, and how to speak up when something is not right.</a:t>
            </a:r>
          </a:p>
          <a:p>
            <a:pPr lvl="0" indent="0" marL="0">
              <a:spcBef>
                <a:spcPts val="3000"/>
              </a:spcBef>
              <a:buNone/>
            </a:pPr>
            <a:r>
              <a:rPr b="1"/>
              <a:t>Integrity</a:t>
            </a:r>
          </a:p>
          <a:p>
            <a:pPr lvl="0" indent="0" marL="0">
              <a:buNone/>
            </a:pPr>
            <a:r>
              <a:rPr/>
              <a:t>We do the right thing, even when no one is watching</a:t>
            </a:r>
          </a:p>
          <a:p>
            <a:pPr lvl="0" indent="0" marL="0">
              <a:spcBef>
                <a:spcPts val="3000"/>
              </a:spcBef>
              <a:buNone/>
            </a:pPr>
            <a:r>
              <a:rPr b="1"/>
              <a:t>Transparency</a:t>
            </a:r>
          </a:p>
          <a:p>
            <a:pPr lvl="0" indent="0" marL="0">
              <a:buNone/>
            </a:pPr>
            <a:r>
              <a:rPr/>
              <a:t>We communicate openly and honestly</a:t>
            </a:r>
          </a:p>
          <a:p>
            <a:pPr lvl="0" indent="0" marL="0">
              <a:spcBef>
                <a:spcPts val="3000"/>
              </a:spcBef>
              <a:buNone/>
            </a:pPr>
            <a:r>
              <a:rPr b="1"/>
              <a:t>Accountability</a:t>
            </a:r>
          </a:p>
          <a:p>
            <a:pPr lvl="0" indent="0" marL="0">
              <a:buNone/>
            </a:pPr>
            <a:r>
              <a:rPr/>
              <a:t>We own our decisions and their outcomes</a:t>
            </a:r>
          </a:p>
          <a:p>
            <a:pPr lvl="0" indent="0" marL="0">
              <a:spcBef>
                <a:spcPts val="3000"/>
              </a:spcBef>
              <a:buNone/>
            </a:pPr>
            <a:r>
              <a:rPr b="1"/>
              <a:t>Respect</a:t>
            </a:r>
          </a:p>
          <a:p>
            <a:pPr lvl="0" indent="0" marL="0">
              <a:buNone/>
            </a:pPr>
            <a:r>
              <a:rPr/>
              <a:t>We treat everyone with dignity and fairness</a:t>
            </a:r>
          </a:p>
          <a:p>
            <a:pPr lvl="0" indent="0" marL="0">
              <a:buNone/>
            </a:pPr>
            <a:r>
              <a:rPr/>
              <a:t>1 / 4</a:t>
            </a:r>
          </a:p>
          <a:p>
            <a:pPr lvl="0" indent="0" marL="0">
              <a:spcBef>
                <a:spcPts val="3000"/>
              </a:spcBef>
              <a:buNone/>
            </a:pPr>
            <a:r>
              <a:rPr b="1"/>
              <a:t>Conflicts of Interest</a:t>
            </a:r>
          </a:p>
          <a:p>
            <a:pPr lvl="0" indent="0" marL="0">
              <a:buNone/>
            </a:pPr>
            <a:r>
              <a:rPr/>
              <a:t>A conflict of interest arises when your personal interests could influence — or appear to influence — your professional judgement.</a:t>
            </a:r>
          </a:p>
          <a:p>
            <a:pPr lvl="0" indent="0" marL="0">
              <a:spcBef>
                <a:spcPts val="3000"/>
              </a:spcBef>
              <a:buNone/>
            </a:pPr>
            <a:r>
              <a:rPr b="1"/>
              <a:t>Examples</a:t>
            </a:r>
          </a:p>
          <a:p>
            <a:pPr lvl="0"/>
            <a:r>
              <a:rPr/>
              <a:t>Having a financial interest in a vendor or competitor</a:t>
            </a:r>
          </a:p>
          <a:p>
            <a:pPr lvl="0"/>
            <a:r>
              <a:rPr/>
              <a:t>Hiring or supervising a family member or close friend</a:t>
            </a:r>
          </a:p>
          <a:p>
            <a:pPr lvl="0"/>
            <a:r>
              <a:rPr/>
              <a:t>Accepting a second job that conflicts with your First Digital role</a:t>
            </a:r>
          </a:p>
          <a:p>
            <a:pPr lvl="0"/>
            <a:r>
              <a:rPr/>
              <a:t>Using company resources for personal projects</a:t>
            </a:r>
          </a:p>
          <a:p>
            <a:pPr lvl="0"/>
            <a:r>
              <a:rPr/>
              <a:t>Making business decisions that benefit you personally</a:t>
            </a:r>
          </a:p>
          <a:p>
            <a:pPr lvl="0" indent="0" marL="0">
              <a:buNone/>
            </a:pPr>
            <a:r>
              <a:rPr b="1"/>
              <a:t>Disclosure requirement:</a:t>
            </a:r>
            <a:r>
              <a:rPr/>
              <a:t> All actual, potential, or perceived conflicts must be declared to your manager and HR using the Conflict of Interest Declaration Form. Declarations are reviewed annually.</a:t>
            </a:r>
          </a:p>
          <a:p>
            <a:pPr lvl="0" indent="0" marL="0">
              <a:buNone/>
            </a:pPr>
            <a:r>
              <a:rPr/>
              <a:t>2 / 4</a:t>
            </a:r>
          </a:p>
          <a:p>
            <a:pPr lvl="0" indent="0" marL="0">
              <a:spcBef>
                <a:spcPts val="3000"/>
              </a:spcBef>
              <a:buNone/>
            </a:pPr>
            <a:r>
              <a:rPr b="1"/>
              <a:t>Gifts &amp; Hospitality</a:t>
            </a:r>
          </a:p>
          <a:p>
            <a:pPr lvl="0" indent="0" marL="0">
              <a:buNone/>
            </a:pPr>
            <a:r>
              <a:rPr b="1"/>
              <a:t>Acceptable:</a:t>
            </a:r>
            <a:r>
              <a:rPr/>
              <a:t> A client sends a box of chocolates at Christmas (value under $100). Log it in the Gifts Register but you may accept.</a:t>
            </a:r>
          </a:p>
          <a:p>
            <a:pPr lvl="0" indent="0" marL="0">
              <a:buNone/>
            </a:pPr>
            <a:r>
              <a:rPr b="1"/>
              <a:t>Requires approval:</a:t>
            </a:r>
            <a:r>
              <a:rPr/>
              <a:t> A vendor invites you to a sporting event with a ticket value of $250. Must be pre-approved by your VP and logged in the Gifts Register.</a:t>
            </a:r>
          </a:p>
          <a:p>
            <a:pPr lvl="0" indent="0" marL="0">
              <a:buNone/>
            </a:pPr>
            <a:r>
              <a:rPr b="1"/>
              <a:t>Not acceptable:</a:t>
            </a:r>
            <a:r>
              <a:rPr/>
              <a:t> A prospective supplier offers you a weekend away. This must be declined regardless of value, as it could influence procurement decisions.</a:t>
            </a:r>
          </a:p>
          <a:p>
            <a:pPr lvl="0" indent="0" marL="0">
              <a:spcBef>
                <a:spcPts val="3000"/>
              </a:spcBef>
              <a:buNone/>
            </a:pPr>
            <a:r>
              <a:rPr b="1"/>
              <a:t>Rules</a:t>
            </a:r>
          </a:p>
          <a:p>
            <a:pPr lvl="0"/>
            <a:r>
              <a:rPr/>
              <a:t>Gifts under $100 may be accepted and must be logged</a:t>
            </a:r>
          </a:p>
          <a:p>
            <a:pPr lvl="0"/>
            <a:r>
              <a:rPr/>
              <a:t>Gifts $100-$500 require VP approval before acceptance</a:t>
            </a:r>
          </a:p>
          <a:p>
            <a:pPr lvl="0"/>
            <a:r>
              <a:rPr/>
              <a:t>Gifts over $500 must be declined</a:t>
            </a:r>
          </a:p>
          <a:p>
            <a:pPr lvl="0"/>
            <a:r>
              <a:rPr/>
              <a:t>Cash or cash equivalents (gift cards) must always be declined</a:t>
            </a:r>
          </a:p>
          <a:p>
            <a:pPr lvl="0"/>
            <a:r>
              <a:rPr/>
              <a:t>Government officials: zero tolerance — no gifts of any value</a:t>
            </a:r>
          </a:p>
          <a:p>
            <a:pPr lvl="0" indent="0" marL="0">
              <a:buNone/>
            </a:pPr>
            <a:r>
              <a:rPr/>
              <a:t>3 / 4</a:t>
            </a:r>
          </a:p>
          <a:p>
            <a:pPr lvl="0" indent="0" marL="0">
              <a:spcBef>
                <a:spcPts val="3000"/>
              </a:spcBef>
              <a:buNone/>
            </a:pPr>
            <a:r>
              <a:rPr b="1"/>
              <a:t>Speaking Up</a:t>
            </a:r>
          </a:p>
          <a:p>
            <a:pPr lvl="0" indent="0" marL="0">
              <a:buNone/>
            </a:pPr>
            <a:r>
              <a:rPr/>
              <a:t>Your voice matters — and you are protected</a:t>
            </a:r>
          </a:p>
          <a:p>
            <a:pPr lvl="0" indent="0" marL="0">
              <a:buNone/>
            </a:pPr>
            <a:r>
              <a:rPr/>
              <a:t>If you witness or suspect unethical behaviour, fraud, corruption, or any violation of our Code of Conduct, you have a duty and a right to report it.</a:t>
            </a:r>
          </a:p>
          <a:p>
            <a:pPr lvl="0" indent="0" marL="0">
              <a:spcBef>
                <a:spcPts val="3000"/>
              </a:spcBef>
              <a:buNone/>
            </a:pPr>
            <a:r>
              <a:rPr b="1"/>
              <a:t>Reporting Channels</a:t>
            </a:r>
          </a:p>
          <a:p>
            <a:pPr lvl="0"/>
            <a:r>
              <a:rPr b="1"/>
              <a:t>Your Manager</a:t>
            </a:r>
            <a:r>
              <a:rPr/>
              <a:t> — First point of contact for most concerns</a:t>
            </a:r>
          </a:p>
          <a:p>
            <a:pPr lvl="0"/>
            <a:r>
              <a:rPr b="1"/>
              <a:t>HR Department</a:t>
            </a:r>
            <a:r>
              <a:rPr/>
              <a:t> — hr@firstdigital.com</a:t>
            </a:r>
          </a:p>
          <a:p>
            <a:pPr lvl="0"/>
            <a:r>
              <a:rPr b="1"/>
              <a:t>General Counsel</a:t>
            </a:r>
            <a:r>
              <a:rPr/>
              <a:t> — For legal or regulatory matters</a:t>
            </a:r>
          </a:p>
          <a:p>
            <a:pPr lvl="0"/>
            <a:r>
              <a:rPr b="1"/>
              <a:t>Ethics Hotline</a:t>
            </a:r>
            <a:r>
              <a:rPr/>
              <a:t> — Anonymous, 24/7, operated by independent third party</a:t>
            </a:r>
          </a:p>
          <a:p>
            <a:pPr lvl="0" indent="0" marL="0">
              <a:buNone/>
            </a:pPr>
            <a:r>
              <a:rPr b="1"/>
              <a:t>Whistleblower Protection:</a:t>
            </a:r>
            <a:r>
              <a:rPr/>
              <a:t> First Digital will not tolerate any retaliation against employees who report concerns in good faith. All reports are investigated confidentially and thoroughly.</a:t>
            </a:r>
          </a:p>
          <a:p>
            <a:pPr lvl="0" indent="0" marL="0">
              <a:buNone/>
            </a:pPr>
            <a:r>
              <a:rPr/>
              <a:t>4 / 4 • First Digital — DWx Policy Manager</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Ethics and Integrity Training</dc:title>
  <dc:creator>First Digital — DWx Policy Manager</dc:creator>
  <cp:keywords/>
  <cp:category>Legal &amp; Compliance</cp:category>
  <dcterms:created xsi:type="dcterms:W3CDTF">2026-04-11T22:11:53Z</dcterms:created>
  <dcterms:modified xsi:type="dcterms:W3CDTF">2026-04-11T22:11:53Z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vt:lpwstr>Presentation</vt:lpwstr>
  </property>
</Properties>
</file>