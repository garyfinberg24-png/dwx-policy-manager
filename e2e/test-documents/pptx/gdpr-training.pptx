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GDPR and Data Protection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Digital — DWx Policy Manager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GDPR &amp; Data Protection Training</a:t>
            </a:r>
          </a:p>
          <a:p>
            <a:pPr lvl="0" indent="0" marL="0">
              <a:buNone/>
            </a:pPr>
            <a:r>
              <a:rPr/>
              <a:t>First Digital — Mandatory Annual Training 2026</a:t>
            </a:r>
          </a:p>
          <a:p>
            <a:pPr lvl="0" indent="0" marL="0">
              <a:buNone/>
            </a:pPr>
            <a:r>
              <a:rPr/>
              <a:t>Understanding your obligations under the General Data Protection Regulation and the Australian Privacy Act when handling personal data.</a:t>
            </a:r>
          </a:p>
          <a:p>
            <a:pPr lvl="0" indent="0" marL="0">
              <a:buNone/>
            </a:pPr>
            <a:r>
              <a:rPr b="1"/>
              <a:t>Why this matters:</a:t>
            </a:r>
            <a:r>
              <a:rPr/>
              <a:t> GDPR penalties can reach up to 4% of annual global turnover or EUR 20 million, whichever is higher. Every employee has a role to play in protecting personal data.</a:t>
            </a:r>
          </a:p>
          <a:p>
            <a:pPr lvl="0" indent="0" marL="0">
              <a:buNone/>
            </a:pPr>
            <a:r>
              <a:rPr/>
              <a:t>1 / 6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Seven Principles of GDPR</a:t>
            </a:r>
          </a:p>
          <a:p>
            <a:pPr lvl="0" indent="0" marL="0">
              <a:buNone/>
            </a:pPr>
            <a:r>
              <a:rPr b="1"/>
              <a:t>1. Lawfulness, Fairness &amp; Transparency</a:t>
            </a:r>
            <a:br/>
            <a:r>
              <a:rPr/>
              <a:t>Process data legally and be open about how you use it</a:t>
            </a:r>
          </a:p>
          <a:p>
            <a:pPr lvl="0" indent="0" marL="0">
              <a:buNone/>
            </a:pPr>
            <a:r>
              <a:rPr b="1"/>
              <a:t>2. Purpose Limitation</a:t>
            </a:r>
            <a:br/>
            <a:r>
              <a:rPr/>
              <a:t>Collect data only for specified, explicit purposes</a:t>
            </a:r>
          </a:p>
          <a:p>
            <a:pPr lvl="0" indent="0" marL="0">
              <a:buNone/>
            </a:pPr>
            <a:r>
              <a:rPr b="1"/>
              <a:t>3. Data Minimisation</a:t>
            </a:r>
            <a:br/>
            <a:r>
              <a:rPr/>
              <a:t>Only collect what you actually need</a:t>
            </a:r>
          </a:p>
          <a:p>
            <a:pPr lvl="0" indent="0" marL="0">
              <a:buNone/>
            </a:pPr>
            <a:r>
              <a:rPr b="1"/>
              <a:t>4. Accuracy</a:t>
            </a:r>
            <a:br/>
            <a:r>
              <a:rPr/>
              <a:t>Keep personal data accurate and up to date</a:t>
            </a:r>
          </a:p>
          <a:p>
            <a:pPr lvl="0" indent="0" marL="0">
              <a:buNone/>
            </a:pPr>
            <a:r>
              <a:rPr b="1"/>
              <a:t>5. Storage Limitation</a:t>
            </a:r>
            <a:br/>
            <a:r>
              <a:rPr/>
              <a:t>Do not keep data longer than necessary</a:t>
            </a:r>
          </a:p>
          <a:p>
            <a:pPr lvl="0" indent="0" marL="0">
              <a:buNone/>
            </a:pPr>
            <a:r>
              <a:rPr b="1"/>
              <a:t>6. Integrity &amp; Confidentiality</a:t>
            </a:r>
            <a:br/>
            <a:r>
              <a:rPr/>
              <a:t>Protect data against unauthorised access and loss</a:t>
            </a:r>
          </a:p>
          <a:p>
            <a:pPr lvl="0" indent="0" marL="0">
              <a:buNone/>
            </a:pPr>
            <a:r>
              <a:rPr b="1"/>
              <a:t>7. Accountability</a:t>
            </a:r>
            <a:br/>
            <a:r>
              <a:rPr/>
              <a:t>You must be able to demonstrate compliance with all principles</a:t>
            </a:r>
          </a:p>
          <a:p>
            <a:pPr lvl="0" indent="0" marL="0">
              <a:buNone/>
            </a:pPr>
            <a:r>
              <a:rPr/>
              <a:t>2 / 6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Data Subject Rights</a:t>
            </a:r>
          </a:p>
          <a:p>
            <a:pPr lvl="0" indent="0" marL="0">
              <a:buNone/>
            </a:pPr>
            <a:r>
              <a:rPr/>
              <a:t>Individuals have these rights over their personal data. We must respond within 30 days.</a:t>
            </a:r>
          </a:p>
          <a:p>
            <a:pPr lvl="0"/>
            <a:r>
              <a:rPr b="1"/>
              <a:t>Right to be Informed</a:t>
            </a:r>
            <a:r>
              <a:rPr/>
              <a:t> — Tell people how you use their data</a:t>
            </a:r>
          </a:p>
          <a:p>
            <a:pPr lvl="0"/>
            <a:r>
              <a:rPr b="1"/>
              <a:t>Right of Access</a:t>
            </a:r>
            <a:r>
              <a:rPr/>
              <a:t> — People can request copies of their data</a:t>
            </a:r>
          </a:p>
          <a:p>
            <a:pPr lvl="0"/>
            <a:r>
              <a:rPr b="1"/>
              <a:t>Right to Rectification</a:t>
            </a:r>
            <a:r>
              <a:rPr/>
              <a:t> — Correct inaccurate data when asked</a:t>
            </a:r>
          </a:p>
          <a:p>
            <a:pPr lvl="0"/>
            <a:r>
              <a:rPr b="1"/>
              <a:t>Right to Erasure</a:t>
            </a:r>
            <a:r>
              <a:rPr/>
              <a:t> — Delete data when there is no legitimate reason to keep it</a:t>
            </a:r>
          </a:p>
          <a:p>
            <a:pPr lvl="0"/>
            <a:r>
              <a:rPr b="1"/>
              <a:t>Right to Restrict Processing</a:t>
            </a:r>
            <a:r>
              <a:rPr/>
              <a:t> — Limit how data is used</a:t>
            </a:r>
          </a:p>
          <a:p>
            <a:pPr lvl="0"/>
            <a:r>
              <a:rPr b="1"/>
              <a:t>Right to Data Portability</a:t>
            </a:r>
            <a:r>
              <a:rPr/>
              <a:t> — Provide data in a machine-readable format</a:t>
            </a:r>
          </a:p>
          <a:p>
            <a:pPr lvl="0"/>
            <a:r>
              <a:rPr b="1"/>
              <a:t>Right to Object</a:t>
            </a:r>
            <a:r>
              <a:rPr/>
              <a:t> — People can object to certain types of processing</a:t>
            </a:r>
          </a:p>
          <a:p>
            <a:pPr lvl="0"/>
            <a:r>
              <a:rPr b="1"/>
              <a:t>Rights related to Automated Decision Making</a:t>
            </a:r>
            <a:r>
              <a:rPr/>
              <a:t> — Right to human review of automated decisions</a:t>
            </a:r>
          </a:p>
          <a:p>
            <a:pPr lvl="0" indent="0" marL="0">
              <a:buNone/>
            </a:pPr>
            <a:r>
              <a:rPr/>
              <a:t>3 / 6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You Must Do</a:t>
            </a:r>
          </a:p>
          <a:p>
            <a:pPr lvl="0"/>
            <a:r>
              <a:rPr/>
              <a:t>Only access personal data you need for your role</a:t>
            </a:r>
          </a:p>
          <a:p>
            <a:pPr lvl="0"/>
            <a:r>
              <a:rPr/>
              <a:t>Never share personal data with unauthorised parties</a:t>
            </a:r>
          </a:p>
          <a:p>
            <a:pPr lvl="0"/>
            <a:r>
              <a:rPr/>
              <a:t>Use BCC when emailing multiple external recipients</a:t>
            </a:r>
          </a:p>
          <a:p>
            <a:pPr lvl="0"/>
            <a:r>
              <a:rPr/>
              <a:t>Double-check email recipients before sending data</a:t>
            </a:r>
          </a:p>
          <a:p>
            <a:pPr lvl="0"/>
            <a:r>
              <a:rPr/>
              <a:t>Store personal data in approved systems only (SharePoint, Workday)</a:t>
            </a:r>
          </a:p>
          <a:p>
            <a:pPr lvl="0"/>
            <a:r>
              <a:rPr/>
              <a:t>Report any data breach or near-miss to the DPO within 24 hours</a:t>
            </a:r>
          </a:p>
          <a:p>
            <a:pPr lvl="0"/>
            <a:r>
              <a:rPr/>
              <a:t>Forward any data subject access requests to privacy@firstdigital.com immediately</a:t>
            </a:r>
          </a:p>
          <a:p>
            <a:pPr lvl="0"/>
            <a:r>
              <a:rPr/>
              <a:t>Dispose of physical documents containing personal data via secure shredding</a:t>
            </a:r>
          </a:p>
          <a:p>
            <a:pPr lvl="0" indent="0" marL="0">
              <a:buNone/>
            </a:pPr>
            <a:r>
              <a:rPr b="1"/>
              <a:t>Data Breach:</a:t>
            </a:r>
            <a:r>
              <a:rPr/>
              <a:t> A data breach must be reported to the relevant authority within 72 hours. Contact the Data Protection Officer immediately at dpo@firstdigital.com or Ext. 4500.</a:t>
            </a:r>
          </a:p>
          <a:p>
            <a:pPr lvl="0" indent="0" marL="0">
              <a:buNone/>
            </a:pPr>
            <a:r>
              <a:rPr/>
              <a:t>4 / 6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Scenarios — What Would You Do?</a:t>
            </a:r>
          </a:p>
          <a:p>
            <a:pPr lvl="0" indent="0" marL="0">
              <a:buNone/>
            </a:pPr>
            <a:r>
              <a:rPr b="1"/>
              <a:t>Scenario 1:</a:t>
            </a:r>
            <a:r>
              <a:rPr/>
              <a:t> A client requests a copy of all data you hold about them. What do you do?</a:t>
            </a:r>
            <a:br/>
            <a:r>
              <a:rPr i="1"/>
              <a:t>Answer: Forward the request to privacy@firstdigital.com. Do not attempt to compile the data yourself.</a:t>
            </a:r>
          </a:p>
          <a:p>
            <a:pPr lvl="0" indent="0" marL="0">
              <a:buNone/>
            </a:pPr>
            <a:r>
              <a:rPr b="1"/>
              <a:t>Scenario 2:</a:t>
            </a:r>
            <a:r>
              <a:rPr/>
              <a:t> You accidentally email a spreadsheet with employee data to the wrong person. What do you do?</a:t>
            </a:r>
            <a:br/>
            <a:r>
              <a:rPr i="1"/>
              <a:t>Answer: Immediately contact the DPO and your manager. Ask the recipient to delete the email without reading it.</a:t>
            </a:r>
          </a:p>
          <a:p>
            <a:pPr lvl="0" indent="0" marL="0">
              <a:buNone/>
            </a:pPr>
            <a:r>
              <a:rPr b="1"/>
              <a:t>Scenario 3:</a:t>
            </a:r>
            <a:r>
              <a:rPr/>
              <a:t> A colleague asks you to share a client contact list for a marketing campaign. What do you do?</a:t>
            </a:r>
            <a:br/>
            <a:r>
              <a:rPr i="1"/>
              <a:t>Answer: Check if the contacts consented to marketing. Consult with Privacy team before sharing.</a:t>
            </a:r>
          </a:p>
          <a:p>
            <a:pPr lvl="0" indent="0" marL="0">
              <a:buNone/>
            </a:pPr>
            <a:r>
              <a:rPr/>
              <a:t>5 / 6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Summary</a:t>
            </a:r>
          </a:p>
          <a:p>
            <a:pPr lvl="0" indent="0" marL="0">
              <a:buNone/>
            </a:pPr>
            <a:r>
              <a:rPr/>
              <a:t>Your data protection responsibilities</a:t>
            </a:r>
          </a:p>
          <a:p>
            <a:pPr lvl="0" indent="-342900" marL="342900">
              <a:buAutoNum type="arabicPeriod"/>
            </a:pPr>
            <a:r>
              <a:rPr/>
              <a:t>Only collect and access personal data you genuinely need</a:t>
            </a:r>
          </a:p>
          <a:p>
            <a:pPr lvl="0" indent="-342900" marL="342900">
              <a:buAutoNum type="arabicPeriod"/>
            </a:pPr>
            <a:r>
              <a:rPr/>
              <a:t>Keep data accurate, secure, and only for as long as required</a:t>
            </a:r>
          </a:p>
          <a:p>
            <a:pPr lvl="0" indent="-342900" marL="342900">
              <a:buAutoNum type="arabicPeriod"/>
            </a:pPr>
            <a:r>
              <a:rPr/>
              <a:t>Report breaches and access requests immediately</a:t>
            </a:r>
          </a:p>
          <a:p>
            <a:pPr lvl="0" indent="-342900" marL="342900">
              <a:buAutoNum type="arabicPeriod"/>
            </a:pPr>
            <a:r>
              <a:rPr/>
              <a:t>Use approved systems and follow the Data Classification Policy</a:t>
            </a:r>
          </a:p>
          <a:p>
            <a:pPr lvl="0" indent="-342900" marL="342900">
              <a:buAutoNum type="arabicPeriod"/>
            </a:pPr>
            <a:r>
              <a:rPr/>
              <a:t>When in doubt, ask the Data Protection Officer</a:t>
            </a:r>
          </a:p>
          <a:p>
            <a:pPr lvl="0" indent="0" marL="0">
              <a:buNone/>
            </a:pPr>
            <a:r>
              <a:rPr/>
              <a:t>Contact: dpo@firstdigital.com • Ext. 4500</a:t>
            </a:r>
          </a:p>
          <a:p>
            <a:pPr lvl="0" indent="0" marL="0">
              <a:buNone/>
            </a:pPr>
            <a:r>
              <a:rPr/>
              <a:t>6 / 6 • First Digital — DWx Policy Manager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GDPR and Data Protection Training</dc:title>
  <dc:creator>First Digital — DWx Policy Manager</dc:creator>
  <cp:keywords/>
  <cp:category>Legal &amp; Compliance</cp:category>
  <dcterms:created xsi:type="dcterms:W3CDTF">2026-04-11T22:11:55Z</dcterms:created>
  <dcterms:modified xsi:type="dcterms:W3CDTF">2026-04-11T22:11:55Z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">
    <vt:lpwstr>Presentation</vt:lpwstr>
  </property>
</Properties>
</file>