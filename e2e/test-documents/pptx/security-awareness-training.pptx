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Cybersecurity Awareness Training 2026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Cybersecurity Awareness Training</a:t>
            </a:r>
          </a:p>
          <a:p>
            <a:pPr lvl="0" indent="0" marL="0">
              <a:buNone/>
            </a:pPr>
            <a:r>
              <a:rPr/>
              <a:t>First Digital — Annual Mandatory Training 2026</a:t>
            </a:r>
          </a:p>
          <a:p>
            <a:pPr lvl="0" indent="0" marL="0">
              <a:buNone/>
            </a:pPr>
            <a:r>
              <a:rPr/>
              <a:t>Protecting our people, our clients, and our data in an evolving threat landscape.</a:t>
            </a:r>
          </a:p>
          <a:p>
            <a:pPr lvl="0" indent="0" marL="0">
              <a:buNone/>
            </a:pPr>
            <a:r>
              <a:rPr/>
              <a:t>3.4B</a:t>
            </a:r>
          </a:p>
          <a:p>
            <a:pPr lvl="0" indent="0" marL="0">
              <a:buNone/>
            </a:pPr>
            <a:r>
              <a:rPr/>
              <a:t>Phishing emails sent daily worldwide</a:t>
            </a:r>
          </a:p>
          <a:p>
            <a:pPr lvl="0" indent="0" marL="0">
              <a:buNone/>
            </a:pPr>
            <a:r>
              <a:rPr/>
              <a:t>$4.45M</a:t>
            </a:r>
          </a:p>
          <a:p>
            <a:pPr lvl="0" indent="0" marL="0">
              <a:buNone/>
            </a:pPr>
            <a:r>
              <a:rPr/>
              <a:t>Average cost of a data breach (2025)</a:t>
            </a:r>
          </a:p>
          <a:p>
            <a:pPr lvl="0" indent="0" marL="0">
              <a:buNone/>
            </a:pPr>
            <a:r>
              <a:rPr/>
              <a:t>95%</a:t>
            </a:r>
          </a:p>
          <a:p>
            <a:pPr lvl="0" indent="0" marL="0">
              <a:buNone/>
            </a:pPr>
            <a:r>
              <a:rPr/>
              <a:t>Of breaches caused by human error</a:t>
            </a:r>
          </a:p>
          <a:p>
            <a:pPr lvl="0" indent="0" marL="0">
              <a:buNone/>
            </a:pPr>
            <a:r>
              <a:rPr/>
              <a:t>Duration: 30 minutes • Acknowledgement required • Valid for 12 months</a:t>
            </a:r>
          </a:p>
          <a:p>
            <a:pPr lvl="0" indent="0" marL="0">
              <a:buNone/>
            </a:pPr>
            <a:r>
              <a:rPr/>
              <a:t>1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Password Security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Strong Password Rules</a:t>
            </a:r>
          </a:p>
          <a:p>
            <a:pPr lvl="0"/>
            <a:r>
              <a:rPr/>
              <a:t>Minimum 14 characters — longer is stronger</a:t>
            </a:r>
          </a:p>
          <a:p>
            <a:pPr lvl="0"/>
            <a:r>
              <a:rPr/>
              <a:t>Mix of uppercase, lowercase, numbers, and symbols</a:t>
            </a:r>
          </a:p>
          <a:p>
            <a:pPr lvl="0"/>
            <a:r>
              <a:rPr/>
              <a:t>Never reuse passwords across accounts</a:t>
            </a:r>
          </a:p>
          <a:p>
            <a:pPr lvl="0"/>
            <a:r>
              <a:rPr/>
              <a:t>Use a password manager (approved: 1Password)</a:t>
            </a:r>
          </a:p>
          <a:p>
            <a:pPr lvl="0"/>
            <a:r>
              <a:rPr/>
              <a:t>Enable MFA on all accounts — no exceptions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Common Mistakes</a:t>
            </a:r>
          </a:p>
          <a:p>
            <a:pPr lvl="0"/>
            <a:r>
              <a:rPr/>
              <a:t>Using personal information (birthdays, pet names)</a:t>
            </a:r>
          </a:p>
          <a:p>
            <a:pPr lvl="0"/>
            <a:r>
              <a:rPr/>
              <a:t>Writing passwords on sticky notes</a:t>
            </a:r>
          </a:p>
          <a:p>
            <a:pPr lvl="0"/>
            <a:r>
              <a:rPr/>
              <a:t>Sharing credentials with colleagues</a:t>
            </a:r>
          </a:p>
          <a:p>
            <a:pPr lvl="0"/>
            <a:r>
              <a:rPr/>
              <a:t>Using the same password for work and personal</a:t>
            </a:r>
          </a:p>
          <a:p>
            <a:pPr lvl="0"/>
            <a:r>
              <a:rPr/>
              <a:t>Ignoring MFA prompts you did not initiate</a:t>
            </a:r>
          </a:p>
          <a:p>
            <a:pPr lvl="0" indent="0" marL="0">
              <a:buNone/>
            </a:pPr>
            <a:r>
              <a:rPr b="1"/>
              <a:t>MFA Fatigue Attacks:</a:t>
            </a:r>
            <a:r>
              <a:rPr/>
              <a:t> Never approve an MFA prompt you did not initiate. Report unexpected prompts to IT Security immediately.</a:t>
            </a:r>
          </a:p>
          <a:p>
            <a:pPr lvl="0" indent="0" marL="0">
              <a:buNone/>
            </a:pPr>
            <a:r>
              <a:rPr/>
              <a:t>2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Recognising Phishing Attacks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Red Flags to Watch For</a:t>
            </a:r>
          </a:p>
          <a:p>
            <a:pPr lvl="0"/>
            <a:r>
              <a:rPr b="1"/>
              <a:t>Urgency:</a:t>
            </a:r>
            <a:r>
              <a:rPr/>
              <a:t> "Your account will be locked in 24 hours"</a:t>
            </a:r>
          </a:p>
          <a:p>
            <a:pPr lvl="0"/>
            <a:r>
              <a:rPr b="1"/>
              <a:t>Spoofed sender:</a:t>
            </a:r>
            <a:r>
              <a:rPr/>
              <a:t> ceo@f1rstdigital.com (note the '1' instead of 'i')</a:t>
            </a:r>
          </a:p>
          <a:p>
            <a:pPr lvl="0"/>
            <a:r>
              <a:rPr b="1"/>
              <a:t>Suspicious links:</a:t>
            </a:r>
            <a:r>
              <a:rPr/>
              <a:t> Hover before clicking — does the URL match?</a:t>
            </a:r>
          </a:p>
          <a:p>
            <a:pPr lvl="0"/>
            <a:r>
              <a:rPr b="1"/>
              <a:t>Unexpected attachments:</a:t>
            </a:r>
            <a:r>
              <a:rPr/>
              <a:t> Especially .exe, .zip, .js files</a:t>
            </a:r>
          </a:p>
          <a:p>
            <a:pPr lvl="0"/>
            <a:r>
              <a:rPr b="1"/>
              <a:t>Requests for credentials:</a:t>
            </a:r>
            <a:r>
              <a:rPr/>
              <a:t> IT will never ask for your password via email</a:t>
            </a:r>
          </a:p>
          <a:p>
            <a:pPr lvl="0"/>
            <a:r>
              <a:rPr b="1"/>
              <a:t>Grammar and spelling errors:</a:t>
            </a:r>
            <a:r>
              <a:rPr/>
              <a:t> Professional organisations proofread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</a:t>
            </a:r>
          </a:p>
          <a:p>
            <a:pPr lvl="0"/>
            <a:r>
              <a:rPr/>
              <a:t>Report suspicious emails via the Phish Alert button</a:t>
            </a:r>
          </a:p>
          <a:p>
            <a:pPr lvl="0"/>
            <a:r>
              <a:rPr/>
              <a:t>Verify requests via a separate channel</a:t>
            </a:r>
          </a:p>
          <a:p>
            <a:pPr lvl="0"/>
            <a:r>
              <a:rPr/>
              <a:t>Check the actual URL before clicking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DON'T</a:t>
            </a:r>
          </a:p>
          <a:p>
            <a:pPr lvl="0"/>
            <a:r>
              <a:rPr/>
              <a:t>Click links in unexpected emails</a:t>
            </a:r>
          </a:p>
          <a:p>
            <a:pPr lvl="0"/>
            <a:r>
              <a:rPr/>
              <a:t>Download attachments from unknown senders</a:t>
            </a:r>
          </a:p>
          <a:p>
            <a:pPr lvl="0"/>
            <a:r>
              <a:rPr/>
              <a:t>Reply with sensitive information</a:t>
            </a:r>
          </a:p>
          <a:p>
            <a:pPr lvl="0" indent="0" marL="0">
              <a:buNone/>
            </a:pPr>
            <a:r>
              <a:rPr/>
              <a:t>3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Protecting Company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Classification Levels</a:t>
            </a:r>
          </a:p>
          <a:p>
            <a:pPr lvl="0" indent="0" marL="0">
              <a:buNone/>
            </a:pPr>
            <a:r>
              <a:rPr b="1"/>
              <a:t>Restricted</a:t>
            </a:r>
            <a:br/>
            <a:r>
              <a:rPr/>
              <a:t>Board papers, M&amp;A, credentials</a:t>
            </a:r>
          </a:p>
          <a:p>
            <a:pPr lvl="0" indent="0" marL="0">
              <a:buNone/>
            </a:pPr>
            <a:r>
              <a:rPr b="1"/>
              <a:t>Confidential</a:t>
            </a:r>
            <a:br/>
            <a:r>
              <a:rPr/>
              <a:t>HR records, financials, client data</a:t>
            </a:r>
          </a:p>
          <a:p>
            <a:pPr lvl="0" indent="0" marL="0">
              <a:buNone/>
            </a:pPr>
            <a:r>
              <a:rPr b="1"/>
              <a:t>Internal</a:t>
            </a:r>
            <a:br/>
            <a:r>
              <a:rPr/>
              <a:t>Policies, procedures, org charts</a:t>
            </a:r>
          </a:p>
          <a:p>
            <a:pPr lvl="0" indent="0" marL="0">
              <a:buNone/>
            </a:pPr>
            <a:r>
              <a:rPr b="1"/>
              <a:t>Public</a:t>
            </a:r>
            <a:br/>
            <a:r>
              <a:rPr/>
              <a:t>Marketing materials, job ads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Rules</a:t>
            </a:r>
          </a:p>
          <a:p>
            <a:pPr lvl="0"/>
            <a:r>
              <a:rPr/>
              <a:t>Classify all documents before sharing</a:t>
            </a:r>
          </a:p>
          <a:p>
            <a:pPr lvl="0"/>
            <a:r>
              <a:rPr/>
              <a:t>Never store Restricted or Confidential data on personal devices</a:t>
            </a:r>
          </a:p>
          <a:p>
            <a:pPr lvl="0"/>
            <a:r>
              <a:rPr/>
              <a:t>Use approved file-sharing tools only (SharePoint, OneDrive)</a:t>
            </a:r>
          </a:p>
          <a:p>
            <a:pPr lvl="0"/>
            <a:r>
              <a:rPr/>
              <a:t>Encrypt sensitive attachments before emailing externally</a:t>
            </a:r>
          </a:p>
          <a:p>
            <a:pPr lvl="0"/>
            <a:r>
              <a:rPr/>
              <a:t>Lock your screen when leaving your desk (Win+L)</a:t>
            </a:r>
          </a:p>
          <a:p>
            <a:pPr lvl="0" indent="0" marL="0">
              <a:buNone/>
            </a:pPr>
            <a:r>
              <a:rPr/>
              <a:t>4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Secure Remote Working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Home Office Security</a:t>
            </a:r>
          </a:p>
          <a:p>
            <a:pPr lvl="0"/>
            <a:r>
              <a:rPr/>
              <a:t>Use company VPN for all work activities</a:t>
            </a:r>
          </a:p>
          <a:p>
            <a:pPr lvl="0"/>
            <a:r>
              <a:rPr/>
              <a:t>Secure your home Wi-Fi with WPA3 encryption</a:t>
            </a:r>
          </a:p>
          <a:p>
            <a:pPr lvl="0"/>
            <a:r>
              <a:rPr/>
              <a:t>Keep work and personal devices separate</a:t>
            </a:r>
          </a:p>
          <a:p>
            <a:pPr lvl="0"/>
            <a:r>
              <a:rPr/>
              <a:t>Use a privacy screen in public spaces</a:t>
            </a:r>
          </a:p>
          <a:p>
            <a:pPr lvl="0"/>
            <a:r>
              <a:rPr/>
              <a:t>Shred physical documents containing sensitive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 Spaces</a:t>
            </a:r>
          </a:p>
          <a:p>
            <a:pPr lvl="0"/>
            <a:r>
              <a:rPr/>
              <a:t>Never connect to free public Wi-Fi for work</a:t>
            </a:r>
          </a:p>
          <a:p>
            <a:pPr lvl="0"/>
            <a:r>
              <a:rPr/>
              <a:t>Use mobile hotspot if office Wi-Fi unavailable</a:t>
            </a:r>
          </a:p>
          <a:p>
            <a:pPr lvl="0"/>
            <a:r>
              <a:rPr/>
              <a:t>Be aware of shoulder surfing</a:t>
            </a:r>
          </a:p>
          <a:p>
            <a:pPr lvl="0"/>
            <a:r>
              <a:rPr/>
              <a:t>Do not take calls with sensitive content in public</a:t>
            </a:r>
          </a:p>
          <a:p>
            <a:pPr lvl="0"/>
            <a:r>
              <a:rPr/>
              <a:t>Never leave devices unattended</a:t>
            </a:r>
          </a:p>
          <a:p>
            <a:pPr lvl="0" indent="0" marL="0">
              <a:buNone/>
            </a:pPr>
            <a:r>
              <a:rPr/>
              <a:t>5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Reporting Security Incidents</a:t>
            </a:r>
          </a:p>
          <a:p>
            <a:pPr lvl="0" indent="0" marL="0">
              <a:buNone/>
            </a:pPr>
            <a:r>
              <a:rPr/>
              <a:t>If you suspect a security incident, report it immediately. Early reporting reduces impact.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to Report</a:t>
            </a:r>
          </a:p>
          <a:p>
            <a:pPr lvl="0"/>
            <a:r>
              <a:rPr/>
              <a:t>Lost or stolen devices (laptop, phone, USB drive)</a:t>
            </a:r>
          </a:p>
          <a:p>
            <a:pPr lvl="0"/>
            <a:r>
              <a:rPr/>
              <a:t>Suspected phishing emails or social engineering attempts</a:t>
            </a:r>
          </a:p>
          <a:p>
            <a:pPr lvl="0"/>
            <a:r>
              <a:rPr/>
              <a:t>Unusual system behaviour or unexpected pop-ups</a:t>
            </a:r>
          </a:p>
          <a:p>
            <a:pPr lvl="0"/>
            <a:r>
              <a:rPr/>
              <a:t>Accidental data exposure or misdirected emails</a:t>
            </a:r>
          </a:p>
          <a:p>
            <a:pPr lvl="0"/>
            <a:r>
              <a:rPr/>
              <a:t>Suspicious physical access to secure areas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to Report</a:t>
            </a:r>
          </a:p>
          <a:p>
            <a:pPr lvl="0" indent="0" marL="0">
              <a:buNone/>
            </a:pPr>
            <a:r>
              <a:rPr/>
              <a:t>IT Security</a:t>
            </a:r>
          </a:p>
          <a:p>
            <a:pPr lvl="0" indent="0" marL="0">
              <a:buNone/>
            </a:pPr>
            <a:r>
              <a:rPr/>
              <a:t>security@firstdigital.com</a:t>
            </a:r>
          </a:p>
          <a:p>
            <a:pPr lvl="0" indent="0" marL="0">
              <a:buNone/>
            </a:pPr>
            <a:r>
              <a:rPr/>
              <a:t>Service Desk</a:t>
            </a:r>
          </a:p>
          <a:p>
            <a:pPr lvl="0" indent="0" marL="0">
              <a:buNone/>
            </a:pPr>
            <a:r>
              <a:rPr/>
              <a:t>Ext. 4357 (HELP)</a:t>
            </a:r>
          </a:p>
          <a:p>
            <a:pPr lvl="0" indent="0" marL="0">
              <a:buNone/>
            </a:pPr>
            <a:r>
              <a:rPr/>
              <a:t>Phish Alert</a:t>
            </a:r>
          </a:p>
          <a:p>
            <a:pPr lvl="0" indent="0" marL="0">
              <a:buNone/>
            </a:pPr>
            <a:r>
              <a:rPr/>
              <a:t>Outlook toolbar button</a:t>
            </a:r>
          </a:p>
          <a:p>
            <a:pPr lvl="0" indent="0" marL="0">
              <a:buNone/>
            </a:pPr>
            <a:r>
              <a:rPr/>
              <a:t>6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Social Engineering Awareness</a:t>
            </a:r>
          </a:p>
          <a:p>
            <a:pPr lvl="0" indent="0" marL="0">
              <a:buNone/>
            </a:pPr>
            <a:r>
              <a:rPr/>
              <a:t>Attackers manipulate people, not just technology. Be vigilant against these tactics: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Common Techniques</a:t>
            </a:r>
          </a:p>
          <a:p>
            <a:pPr lvl="0"/>
            <a:r>
              <a:rPr b="1"/>
              <a:t>Pretexting:</a:t>
            </a:r>
            <a:r>
              <a:rPr/>
              <a:t> Impersonating IT support or a vendor</a:t>
            </a:r>
          </a:p>
          <a:p>
            <a:pPr lvl="0"/>
            <a:r>
              <a:rPr b="1"/>
              <a:t>Baiting:</a:t>
            </a:r>
            <a:r>
              <a:rPr/>
              <a:t> Leaving infected USB drives in common areas</a:t>
            </a:r>
          </a:p>
          <a:p>
            <a:pPr lvl="0"/>
            <a:r>
              <a:rPr b="1"/>
              <a:t>Tailgating:</a:t>
            </a:r>
            <a:r>
              <a:rPr/>
              <a:t> Following authorised staff into secure areas</a:t>
            </a:r>
          </a:p>
          <a:p>
            <a:pPr lvl="0"/>
            <a:r>
              <a:rPr b="1"/>
              <a:t>Vishing:</a:t>
            </a:r>
            <a:r>
              <a:rPr/>
              <a:t> Phone-based phishing scams</a:t>
            </a:r>
          </a:p>
          <a:p>
            <a:pPr lvl="0"/>
            <a:r>
              <a:rPr b="1"/>
              <a:t>Quid pro quo:</a:t>
            </a:r>
            <a:r>
              <a:rPr/>
              <a:t> Offering something in exchange for information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Defence Strategies</a:t>
            </a:r>
          </a:p>
          <a:p>
            <a:pPr lvl="0"/>
            <a:r>
              <a:rPr/>
              <a:t>Always verify identity before sharing information</a:t>
            </a:r>
          </a:p>
          <a:p>
            <a:pPr lvl="0"/>
            <a:r>
              <a:rPr/>
              <a:t>Use callback verification for financial requests</a:t>
            </a:r>
          </a:p>
          <a:p>
            <a:pPr lvl="0"/>
            <a:r>
              <a:rPr/>
              <a:t>Never plug in unknown USB devices</a:t>
            </a:r>
          </a:p>
          <a:p>
            <a:pPr lvl="0"/>
            <a:r>
              <a:rPr/>
              <a:t>Challenge unfamiliar visitors in secure areas</a:t>
            </a:r>
          </a:p>
          <a:p>
            <a:pPr lvl="0"/>
            <a:r>
              <a:rPr/>
              <a:t>Trust your instincts — if something feels wrong, report it</a:t>
            </a:r>
          </a:p>
          <a:p>
            <a:pPr lvl="0" indent="0" marL="0">
              <a:buNone/>
            </a:pPr>
            <a:r>
              <a:rPr/>
              <a:t>7 / 8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buNone/>
            </a:pPr>
            <a:r>
              <a:rPr/>
              <a:t>Remember these five principles every day</a:t>
            </a:r>
          </a:p>
          <a:p>
            <a:pPr lvl="0" indent="-342900" marL="342900">
              <a:buAutoNum type="arabicPeriod"/>
            </a:pPr>
            <a:r>
              <a:rPr b="1"/>
              <a:t>Think before you click</a:t>
            </a:r>
            <a:r>
              <a:rPr/>
              <a:t> — Verify links, senders, and requests</a:t>
            </a:r>
          </a:p>
          <a:p>
            <a:pPr lvl="0" indent="-342900" marL="342900">
              <a:buAutoNum type="arabicPeriod"/>
            </a:pPr>
            <a:r>
              <a:rPr b="1"/>
              <a:t>Protect your credentials</a:t>
            </a:r>
            <a:r>
              <a:rPr/>
              <a:t> — Strong passwords + MFA everywhere</a:t>
            </a:r>
          </a:p>
          <a:p>
            <a:pPr lvl="0" indent="-342900" marL="342900">
              <a:buAutoNum type="arabicPeriod"/>
            </a:pPr>
            <a:r>
              <a:rPr b="1"/>
              <a:t>Classify and protect data</a:t>
            </a:r>
            <a:r>
              <a:rPr/>
              <a:t> — Handle information according to its classification</a:t>
            </a:r>
          </a:p>
          <a:p>
            <a:pPr lvl="0" indent="-342900" marL="342900">
              <a:buAutoNum type="arabicPeriod"/>
            </a:pPr>
            <a:r>
              <a:rPr b="1"/>
              <a:t>Report immediately</a:t>
            </a:r>
            <a:r>
              <a:rPr/>
              <a:t> — Early reporting minimises impact</a:t>
            </a:r>
          </a:p>
          <a:p>
            <a:pPr lvl="0" indent="-342900" marL="342900">
              <a:buAutoNum type="arabicPeriod"/>
            </a:pPr>
            <a:r>
              <a:rPr b="1"/>
              <a:t>Stay vigilant</a:t>
            </a:r>
            <a:r>
              <a:rPr/>
              <a:t> — Security is everyone's responsibility</a:t>
            </a:r>
          </a:p>
          <a:p>
            <a:pPr lvl="0" indent="0" marL="0">
              <a:buNone/>
            </a:pPr>
            <a:r>
              <a:rPr/>
              <a:t>Complete the acknowledgement quiz to finalise your training</a:t>
            </a:r>
          </a:p>
          <a:p>
            <a:pPr lvl="0" indent="0" marL="0">
              <a:buNone/>
            </a:pPr>
            <a:r>
              <a:rPr/>
              <a:t>Passing score: 80% • 2 attempts allowed</a:t>
            </a:r>
          </a:p>
          <a:p>
            <a:pPr lvl="0" indent="0" marL="0">
              <a:buNone/>
            </a:pPr>
            <a:r>
              <a:rPr/>
              <a:t>8 / 8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Training 2026</dc:title>
  <dc:creator>First Digital — DWx Policy Manager</dc:creator>
  <cp:keywords/>
  <cp:category>Information Technology</cp:category>
  <dcterms:created xsi:type="dcterms:W3CDTF">2026-04-11T22:11:57Z</dcterms:created>
  <dcterms:modified xsi:type="dcterms:W3CDTF">2026-04-11T22:11:57Z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