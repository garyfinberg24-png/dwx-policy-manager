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Change Management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Digital — DWx Policy Manager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Change Management Process</a:t>
            </a:r>
          </a:p>
          <a:p>
            <a:pPr lvl="0" indent="0" marL="0">
              <a:buNone/>
            </a:pPr>
            <a:r>
              <a:rPr/>
              <a:t>First Digital — IT Operations</a:t>
            </a:r>
          </a:p>
          <a:p>
            <a:pPr lvl="0" indent="0" marL="0">
              <a:buNone/>
            </a:pPr>
            <a:r>
              <a:rPr/>
              <a:t>All changes to production systems, infrastructure, and critical applications must follow the Change Management process to minimise risk and ensure service stability.</a:t>
            </a:r>
          </a:p>
          <a:p>
            <a:pPr lvl="0" indent="0" marL="0">
              <a:buNone/>
            </a:pPr>
            <a:r>
              <a:rPr b="1"/>
              <a:t>Request</a:t>
            </a:r>
          </a:p>
          <a:p>
            <a:pPr lvl="0" indent="0" marL="0">
              <a:buNone/>
            </a:pPr>
            <a:r>
              <a:rPr/>
              <a:t>→</a:t>
            </a:r>
          </a:p>
          <a:p>
            <a:pPr lvl="0" indent="0" marL="0">
              <a:buNone/>
            </a:pPr>
            <a:r>
              <a:rPr b="1"/>
              <a:t>Assess</a:t>
            </a:r>
          </a:p>
          <a:p>
            <a:pPr lvl="0" indent="0" marL="0">
              <a:buNone/>
            </a:pPr>
            <a:r>
              <a:rPr/>
              <a:t>→</a:t>
            </a:r>
          </a:p>
          <a:p>
            <a:pPr lvl="0" indent="0" marL="0">
              <a:buNone/>
            </a:pPr>
            <a:r>
              <a:rPr b="1"/>
              <a:t>Approve</a:t>
            </a:r>
          </a:p>
          <a:p>
            <a:pPr lvl="0" indent="0" marL="0">
              <a:buNone/>
            </a:pPr>
            <a:r>
              <a:rPr/>
              <a:t>→</a:t>
            </a:r>
          </a:p>
          <a:p>
            <a:pPr lvl="0" indent="0" marL="0">
              <a:buNone/>
            </a:pPr>
            <a:r>
              <a:rPr b="1"/>
              <a:t>Implement</a:t>
            </a:r>
          </a:p>
          <a:p>
            <a:pPr lvl="0" indent="0" marL="0">
              <a:buNone/>
            </a:pPr>
            <a:r>
              <a:rPr/>
              <a:t>→</a:t>
            </a:r>
          </a:p>
          <a:p>
            <a:pPr lvl="0" indent="0" marL="0">
              <a:buNone/>
            </a:pPr>
            <a:r>
              <a:rPr b="1"/>
              <a:t>Review</a:t>
            </a:r>
          </a:p>
          <a:p>
            <a:pPr lvl="0" indent="0" marL="0">
              <a:buNone/>
            </a:pPr>
            <a:r>
              <a:rPr/>
              <a:t>1 / 4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Change Types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Standard</a:t>
            </a:r>
          </a:p>
          <a:p>
            <a:pPr lvl="0" indent="0" marL="0">
              <a:buNone/>
            </a:pPr>
            <a:r>
              <a:rPr/>
              <a:t>Pre-approved, low-risk, routine changes. No CAB approval needed.</a:t>
            </a:r>
          </a:p>
          <a:p>
            <a:pPr lvl="0" indent="0" marL="0">
              <a:buNone/>
            </a:pPr>
            <a:r>
              <a:rPr i="1"/>
              <a:t>Example: Patch deployment, user account changes, certificate renewals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Normal</a:t>
            </a:r>
          </a:p>
          <a:p>
            <a:pPr lvl="0" indent="0" marL="0">
              <a:buNone/>
            </a:pPr>
            <a:r>
              <a:rPr/>
              <a:t>Non-urgent changes requiring planning and CAB approval. 5-day lead time.</a:t>
            </a:r>
          </a:p>
          <a:p>
            <a:pPr lvl="0" indent="0" marL="0">
              <a:buNone/>
            </a:pPr>
            <a:r>
              <a:rPr i="1"/>
              <a:t>Example: Application upgrade, firewall rule change, new integration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Emergency</a:t>
            </a:r>
          </a:p>
          <a:p>
            <a:pPr lvl="0" indent="0" marL="0">
              <a:buNone/>
            </a:pPr>
            <a:r>
              <a:rPr/>
              <a:t>Urgent fix for P1/P2 incidents. Expedited approval by Emergency CAB.</a:t>
            </a:r>
          </a:p>
          <a:p>
            <a:pPr lvl="0" indent="0" marL="0">
              <a:buNone/>
            </a:pPr>
            <a:r>
              <a:rPr i="1"/>
              <a:t>Example: Security patch for active exploit, production hotfix</a:t>
            </a:r>
          </a:p>
          <a:p>
            <a:pPr lvl="0" indent="0" marL="0">
              <a:buNone/>
            </a:pPr>
            <a:r>
              <a:rPr/>
              <a:t>2 / 4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Change Request Requirements</a:t>
            </a:r>
          </a:p>
          <a:p>
            <a:pPr lvl="0" indent="0" marL="0">
              <a:buNone/>
            </a:pPr>
            <a:r>
              <a:rPr/>
              <a:t>Every change request must include:</a:t>
            </a:r>
          </a:p>
          <a:p>
            <a:pPr lvl="0"/>
            <a:r>
              <a:rPr b="1"/>
              <a:t>Description:</a:t>
            </a:r>
            <a:r>
              <a:rPr/>
              <a:t> Clear explanation of what is changing and why</a:t>
            </a:r>
          </a:p>
          <a:p>
            <a:pPr lvl="0"/>
            <a:r>
              <a:rPr b="1"/>
              <a:t>Impact Assessment:</a:t>
            </a:r>
            <a:r>
              <a:rPr/>
              <a:t> Systems affected, users impacted, downtime expected</a:t>
            </a:r>
          </a:p>
          <a:p>
            <a:pPr lvl="0"/>
            <a:r>
              <a:rPr b="1"/>
              <a:t>Risk Assessment:</a:t>
            </a:r>
            <a:r>
              <a:rPr/>
              <a:t> Likelihood and impact of failure</a:t>
            </a:r>
          </a:p>
          <a:p>
            <a:pPr lvl="0"/>
            <a:r>
              <a:rPr b="1"/>
              <a:t>Rollback Plan:</a:t>
            </a:r>
            <a:r>
              <a:rPr/>
              <a:t> Step-by-step procedure to revert the change if issues arise</a:t>
            </a:r>
          </a:p>
          <a:p>
            <a:pPr lvl="0"/>
            <a:r>
              <a:rPr b="1"/>
              <a:t>Test Evidence:</a:t>
            </a:r>
            <a:r>
              <a:rPr/>
              <a:t> Results from testing in non-production environment</a:t>
            </a:r>
          </a:p>
          <a:p>
            <a:pPr lvl="0"/>
            <a:r>
              <a:rPr b="1"/>
              <a:t>Implementation Plan:</a:t>
            </a:r>
            <a:r>
              <a:rPr/>
              <a:t> Detailed steps, schedule, and responsible parties</a:t>
            </a:r>
          </a:p>
          <a:p>
            <a:pPr lvl="0"/>
            <a:r>
              <a:rPr b="1"/>
              <a:t>Communication Plan:</a:t>
            </a:r>
            <a:r>
              <a:rPr/>
              <a:t> Who needs to be notified, when, and how</a:t>
            </a:r>
          </a:p>
          <a:p>
            <a:pPr lvl="0" indent="0" marL="0">
              <a:buNone/>
            </a:pPr>
            <a:r>
              <a:rPr/>
              <a:t>3 / 4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Change Advisory Board (CAB)</a:t>
            </a:r>
          </a:p>
          <a:p>
            <a:pPr lvl="0" indent="0" marL="0">
              <a:buNone/>
            </a:pPr>
            <a:r>
              <a:rPr/>
              <a:t>Governance and approval</a:t>
            </a:r>
          </a:p>
          <a:p>
            <a:pPr lvl="0" indent="0" marL="0">
              <a:buNone/>
            </a:pPr>
            <a:r>
              <a:rPr b="1"/>
              <a:t>CAB meets weekly (Wednesday 2pm)</a:t>
            </a:r>
            <a:r>
              <a:rPr/>
              <a:t> to review and approve Normal change requests.</a:t>
            </a:r>
          </a:p>
          <a:p>
            <a:pPr lvl="0" indent="0" marL="0">
              <a:buNone/>
            </a:pPr>
            <a:r>
              <a:rPr b="1"/>
              <a:t>Members:</a:t>
            </a:r>
            <a:r>
              <a:rPr/>
              <a:t> CTO (Chair), IT Operations Manager, Security Lead, Application Owners, Service Desk Manager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Change Windows</a:t>
            </a:r>
          </a:p>
          <a:p>
            <a:pPr lvl="0"/>
            <a:r>
              <a:rPr b="1"/>
              <a:t>Standard maintenance:</a:t>
            </a:r>
            <a:r>
              <a:rPr/>
              <a:t> Tuesday and Thursday 10pm - 2am AEST</a:t>
            </a:r>
          </a:p>
          <a:p>
            <a:pPr lvl="0"/>
            <a:r>
              <a:rPr b="1"/>
              <a:t>Major releases:</a:t>
            </a:r>
            <a:r>
              <a:rPr/>
              <a:t> Saturday 6am - 12pm AEST</a:t>
            </a:r>
          </a:p>
          <a:p>
            <a:pPr lvl="0"/>
            <a:r>
              <a:rPr b="1"/>
              <a:t>Change freeze:</a:t>
            </a:r>
            <a:r>
              <a:rPr/>
              <a:t> 15 December - 5 January (annual), plus company-defined blackout periods</a:t>
            </a:r>
          </a:p>
          <a:p>
            <a:pPr lvl="0" indent="0" marL="0">
              <a:buNone/>
            </a:pPr>
            <a:r>
              <a:rPr/>
              <a:t>Submit changes via ServiceNow • Contact: changemanagement@firstdigital.com</a:t>
            </a:r>
          </a:p>
          <a:p>
            <a:pPr lvl="0" indent="0" marL="0">
              <a:buNone/>
            </a:pPr>
            <a:r>
              <a:rPr/>
              <a:t>4 / 4 • First Digital — DWx Policy Manager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 Management Process</dc:title>
  <dc:creator>First Digital — DWx Policy Manager</dc:creator>
  <cp:keywords/>
  <cp:category>Operations</cp:category>
  <dcterms:created xsi:type="dcterms:W3CDTF">2026-04-11T22:11:51Z</dcterms:created>
  <dcterms:modified xsi:type="dcterms:W3CDTF">2026-04-11T22:11:51Z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">
    <vt:lpwstr>Presentation</vt:lpwstr>
  </property>
</Properties>
</file>