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Continuity Planning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Business Continuity Planning</a:t>
            </a:r>
          </a:p>
          <a:p>
            <a:pPr lvl="0" indent="0" marL="0">
              <a:buNone/>
            </a:pPr>
            <a:r>
              <a:rPr/>
              <a:t>First Digital — BCP Overview 2026</a:t>
            </a:r>
          </a:p>
          <a:p>
            <a:pPr lvl="0" indent="0" marL="0">
              <a:buNone/>
            </a:pPr>
            <a:r>
              <a:rPr/>
              <a:t>Our business continuity framework ensures First Digital can maintain essential operations during and after a disruptive event, protecting our people, clients, and reputation.</a:t>
            </a:r>
          </a:p>
          <a:p>
            <a:pPr lvl="0" indent="0" marL="0">
              <a:buNone/>
            </a:pPr>
            <a:r>
              <a:rPr b="1"/>
              <a:t>ISO 22301</a:t>
            </a:r>
            <a:br/>
            <a:r>
              <a:rPr/>
              <a:t>Certified since 2024</a:t>
            </a:r>
          </a:p>
          <a:p>
            <a:pPr lvl="0" indent="0" marL="0">
              <a:buNone/>
            </a:pPr>
            <a:r>
              <a:rPr b="1"/>
              <a:t>4 Hours</a:t>
            </a:r>
            <a:br/>
            <a:r>
              <a:rPr/>
              <a:t>Maximum RTO for critical systems</a:t>
            </a:r>
          </a:p>
          <a:p>
            <a:pPr lvl="0" indent="0" marL="0">
              <a:buNone/>
            </a:pPr>
            <a:r>
              <a:rPr b="1"/>
              <a:t>99.9%</a:t>
            </a:r>
            <a:br/>
            <a:r>
              <a:rPr/>
              <a:t>Availability target</a:t>
            </a:r>
          </a:p>
          <a:p>
            <a:pPr lvl="0" indent="0" marL="0">
              <a:buNone/>
            </a:pPr>
            <a:r>
              <a:rPr/>
              <a:t>1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Recovery Time Objectives (RTO)</a:t>
            </a:r>
          </a:p>
          <a:p>
            <a:pPr lvl="0" indent="0" marL="0">
              <a:buNone/>
            </a:pPr>
            <a:r>
              <a:rPr/>
              <a:t>Tier 1 — Critical</a:t>
            </a:r>
          </a:p>
          <a:p>
            <a:pPr lvl="0" indent="0" marL="0">
              <a:buNone/>
            </a:pPr>
            <a:r>
              <a:rPr/>
              <a:t>4 Hours</a:t>
            </a:r>
          </a:p>
          <a:p>
            <a:pPr lvl="0" indent="0" marL="0">
              <a:buNone/>
            </a:pPr>
            <a:r>
              <a:rPr/>
              <a:t>Email, VPN, SharePoint, Core ERP, Client Portal</a:t>
            </a:r>
          </a:p>
          <a:p>
            <a:pPr lvl="0" indent="0" marL="0">
              <a:buNone/>
            </a:pPr>
            <a:r>
              <a:rPr/>
              <a:t>Tier 2 — Important</a:t>
            </a:r>
          </a:p>
          <a:p>
            <a:pPr lvl="0" indent="0" marL="0">
              <a:buNone/>
            </a:pPr>
            <a:r>
              <a:rPr/>
              <a:t>24 Hours</a:t>
            </a:r>
          </a:p>
          <a:p>
            <a:pPr lvl="0" indent="0" marL="0">
              <a:buNone/>
            </a:pPr>
            <a:r>
              <a:rPr/>
              <a:t>CRM, HR Systems, Project Management, Analytics</a:t>
            </a:r>
          </a:p>
          <a:p>
            <a:pPr lvl="0" indent="0" marL="0">
              <a:buNone/>
            </a:pPr>
            <a:r>
              <a:rPr/>
              <a:t>Tier 3 — Standard</a:t>
            </a:r>
          </a:p>
          <a:p>
            <a:pPr lvl="0" indent="0" marL="0">
              <a:buNone/>
            </a:pPr>
            <a:r>
              <a:rPr/>
              <a:t>72 Hours</a:t>
            </a:r>
          </a:p>
          <a:p>
            <a:pPr lvl="0" indent="0" marL="0">
              <a:buNone/>
            </a:pPr>
            <a:r>
              <a:rPr/>
              <a:t>Training, Intranet, Marketing Platforms, Dev/Test</a:t>
            </a:r>
          </a:p>
          <a:p>
            <a:pPr lvl="0" indent="0" marL="0">
              <a:buNone/>
            </a:pPr>
            <a:r>
              <a:rPr b="1"/>
              <a:t>Recovery Point Objective (RPO):</a:t>
            </a:r>
            <a:r>
              <a:rPr/>
              <a:t> Maximum 1 hour of data loss for Tier 1 systems (continuous replication). Tier 2: 4 hours. Tier 3: 24 hours.</a:t>
            </a:r>
          </a:p>
          <a:p>
            <a:pPr lvl="0" indent="0" marL="0">
              <a:buNone/>
            </a:pPr>
            <a:r>
              <a:rPr/>
              <a:t>2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Activation Triggers</a:t>
            </a:r>
          </a:p>
          <a:p>
            <a:pPr lvl="0" indent="0" marL="0">
              <a:buNone/>
            </a:pPr>
            <a:r>
              <a:rPr/>
              <a:t>The BCP is activated when an event significantly disrupts normal operations:</a:t>
            </a:r>
          </a:p>
          <a:p>
            <a:pPr lvl="0"/>
            <a:r>
              <a:rPr b="1"/>
              <a:t>Natural disaster</a:t>
            </a:r>
            <a:r>
              <a:rPr/>
              <a:t> — Fire, flood, earthquake, severe storm affecting office access</a:t>
            </a:r>
          </a:p>
          <a:p>
            <a:pPr lvl="0"/>
            <a:r>
              <a:rPr b="1"/>
              <a:t>Pandemic</a:t>
            </a:r>
            <a:r>
              <a:rPr/>
              <a:t> — Widespread illness affecting workforce availability</a:t>
            </a:r>
          </a:p>
          <a:p>
            <a:pPr lvl="0"/>
            <a:r>
              <a:rPr b="1"/>
              <a:t>Cyber incident</a:t>
            </a:r>
            <a:r>
              <a:rPr/>
              <a:t> — Ransomware, data breach, or sustained DDoS attack</a:t>
            </a:r>
          </a:p>
          <a:p>
            <a:pPr lvl="0"/>
            <a:r>
              <a:rPr b="1"/>
              <a:t>Infrastructure failure</a:t>
            </a:r>
            <a:r>
              <a:rPr/>
              <a:t> — Power outage, internet outage, or building damage</a:t>
            </a:r>
          </a:p>
          <a:p>
            <a:pPr lvl="0"/>
            <a:r>
              <a:rPr b="1"/>
              <a:t>Supply chain disruption</a:t>
            </a:r>
            <a:r>
              <a:rPr/>
              <a:t> — Critical vendor failure or service withdrawal</a:t>
            </a:r>
          </a:p>
          <a:p>
            <a:pPr lvl="0"/>
            <a:r>
              <a:rPr b="1"/>
              <a:t>Civil disruption</a:t>
            </a:r>
            <a:r>
              <a:rPr/>
              <a:t> — Transport strikes, civil unrest, or government-imposed restrictions</a:t>
            </a:r>
          </a:p>
          <a:p>
            <a:pPr lvl="0" indent="0" marL="0">
              <a:buNone/>
            </a:pPr>
            <a:r>
              <a:rPr b="1"/>
              <a:t>Activation authority:</a:t>
            </a:r>
            <a:r>
              <a:rPr/>
              <a:t> CEO, COO, or CTO. Notification via mass SMS and Teams broadcast.</a:t>
            </a:r>
          </a:p>
          <a:p>
            <a:pPr lvl="0" indent="0" marL="0">
              <a:buNone/>
            </a:pPr>
            <a:r>
              <a:rPr/>
              <a:t>3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Role During a Disruption</a:t>
            </a:r>
          </a:p>
          <a:p>
            <a:pPr lvl="0"/>
            <a:r>
              <a:rPr/>
              <a:t>Check your phone for SMS alerts from the Crisis Management Team</a:t>
            </a:r>
          </a:p>
          <a:p>
            <a:pPr lvl="0"/>
            <a:r>
              <a:rPr/>
              <a:t>Log in to Teams from home — your manager will post instructions in your team channel</a:t>
            </a:r>
          </a:p>
          <a:p>
            <a:pPr lvl="0"/>
            <a:r>
              <a:rPr/>
              <a:t>Follow the work-from-home procedures in the Remote Working Policy</a:t>
            </a:r>
          </a:p>
          <a:p>
            <a:pPr lvl="0"/>
            <a:r>
              <a:rPr/>
              <a:t>Prioritise client-facing deliverables and critical deadlines</a:t>
            </a:r>
          </a:p>
          <a:p>
            <a:pPr lvl="0"/>
            <a:r>
              <a:rPr/>
              <a:t>Report your status via the Employee Check-In form (link in SMS)</a:t>
            </a:r>
          </a:p>
          <a:p>
            <a:pPr lvl="0"/>
            <a:r>
              <a:rPr/>
              <a:t>Do not speak to media — all media enquiries go to Communications</a:t>
            </a:r>
          </a:p>
          <a:p>
            <a:pPr lvl="0"/>
            <a:r>
              <a:rPr/>
              <a:t>Attend daily stand-up briefings at the scheduled time until normal operations resume</a:t>
            </a:r>
          </a:p>
          <a:p>
            <a:pPr lvl="0" indent="0" marL="0">
              <a:buNone/>
            </a:pPr>
            <a:r>
              <a:rPr/>
              <a:t>4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Testing &amp; Maintenance</a:t>
            </a:r>
          </a:p>
          <a:p>
            <a:pPr lvl="0" indent="0" marL="0">
              <a:buNone/>
            </a:pPr>
            <a:r>
              <a:rPr/>
              <a:t>A plan is only as good as its last test</a:t>
            </a:r>
          </a:p>
          <a:p>
            <a:pPr lvl="0"/>
            <a:r>
              <a:rPr b="1"/>
              <a:t>Tabletop exercises:</a:t>
            </a:r>
            <a:r>
              <a:rPr/>
              <a:t> Quarterly with leadership team</a:t>
            </a:r>
          </a:p>
          <a:p>
            <a:pPr lvl="0"/>
            <a:r>
              <a:rPr b="1"/>
              <a:t>Functional exercises:</a:t>
            </a:r>
            <a:r>
              <a:rPr/>
              <a:t> Semi-annual simulation of specific scenarios</a:t>
            </a:r>
          </a:p>
          <a:p>
            <a:pPr lvl="0"/>
            <a:r>
              <a:rPr b="1"/>
              <a:t>Full-scale drill:</a:t>
            </a:r>
            <a:r>
              <a:rPr/>
              <a:t> Annual company-wide BCP activation test</a:t>
            </a:r>
          </a:p>
          <a:p>
            <a:pPr lvl="0"/>
            <a:r>
              <a:rPr b="1"/>
              <a:t>DR failover test:</a:t>
            </a:r>
            <a:r>
              <a:rPr/>
              <a:t> Quarterly automated failover verification</a:t>
            </a:r>
          </a:p>
          <a:p>
            <a:pPr lvl="0"/>
            <a:r>
              <a:rPr b="1"/>
              <a:t>Plan review:</a:t>
            </a:r>
            <a:r>
              <a:rPr/>
              <a:t> Updated after every exercise, incident, or significant change</a:t>
            </a:r>
          </a:p>
          <a:p>
            <a:pPr lvl="0" indent="0" marL="0">
              <a:buNone/>
            </a:pPr>
            <a:r>
              <a:rPr/>
              <a:t>BCP Owner: COO • Contact: bcp@firstdigital.com</a:t>
            </a:r>
          </a:p>
          <a:p>
            <a:pPr lvl="0" indent="0" marL="0">
              <a:buNone/>
            </a:pPr>
            <a:r>
              <a:rPr/>
              <a:t>5 / 5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Continuity Planning Overview</dc:title>
  <dc:creator>First Digital — DWx Policy Manager</dc:creator>
  <cp:keywords/>
  <cp:category>Operations</cp:category>
  <dcterms:created xsi:type="dcterms:W3CDTF">2026-04-11T22:11:51Z</dcterms:created>
  <dcterms:modified xsi:type="dcterms:W3CDTF">2026-04-11T22:11:51Z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