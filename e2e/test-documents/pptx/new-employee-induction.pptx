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New Employee Induction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First Digital — DWx Policy Manager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Welcome to First Digital</a:t>
            </a:r>
          </a:p>
          <a:p>
            <a:pPr lvl="0" indent="0" marL="0">
              <a:buNone/>
            </a:pPr>
            <a:r>
              <a:rPr/>
              <a:t>New Employee Induction Programme</a:t>
            </a:r>
          </a:p>
          <a:p>
            <a:pPr lvl="0" indent="0" marL="0">
              <a:buNone/>
            </a:pPr>
            <a:r>
              <a:rPr/>
              <a:t>We are thrilled to have you join our team. This induction will help you get oriented, understand our culture, and set you up for success in your first 90 days.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Founded</a:t>
            </a:r>
          </a:p>
          <a:p>
            <a:pPr lvl="0" indent="0" marL="0">
              <a:buNone/>
            </a:pPr>
            <a:r>
              <a:rPr/>
              <a:t>2012 in Sydney, Australia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Employees</a:t>
            </a:r>
          </a:p>
          <a:p>
            <a:pPr lvl="0" indent="0" marL="0">
              <a:buNone/>
            </a:pPr>
            <a:r>
              <a:rPr/>
              <a:t>850+ across 4 countries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Mission</a:t>
            </a:r>
          </a:p>
          <a:p>
            <a:pPr lvl="0" indent="0" marL="0">
              <a:buNone/>
            </a:pPr>
            <a:r>
              <a:rPr/>
              <a:t>Empowering digital workplaces through innovative solutions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Values</a:t>
            </a:r>
          </a:p>
          <a:p>
            <a:pPr lvl="0" indent="0" marL="0">
              <a:buNone/>
            </a:pPr>
            <a:r>
              <a:rPr/>
              <a:t>Integrity, Innovation, Inclusion, Impact</a:t>
            </a:r>
          </a:p>
          <a:p>
            <a:pPr lvl="0" indent="0" marL="0">
              <a:buNone/>
            </a:pPr>
            <a:r>
              <a:rPr/>
              <a:t>1 / 6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Your First Week</a:t>
            </a:r>
          </a:p>
          <a:p>
            <a:pPr lvl="0" indent="0" marL="0">
              <a:buNone/>
            </a:pPr>
            <a:r>
              <a:rPr b="1"/>
              <a:t>Day 1 — Welcome &amp; Setup</a:t>
            </a:r>
          </a:p>
          <a:p>
            <a:pPr lvl="0" indent="0" marL="0">
              <a:buNone/>
            </a:pPr>
            <a:r>
              <a:rPr/>
              <a:t>Meet your manager, collect equipment, set up accounts, office tour, lunch with team</a:t>
            </a:r>
          </a:p>
          <a:p>
            <a:pPr lvl="0" indent="0" marL="0">
              <a:buNone/>
            </a:pPr>
            <a:r>
              <a:rPr b="1"/>
              <a:t>Day 2 — Systems &amp; Tools</a:t>
            </a:r>
          </a:p>
          <a:p>
            <a:pPr lvl="0" indent="0" marL="0">
              <a:buNone/>
            </a:pPr>
            <a:r>
              <a:rPr/>
              <a:t>IT orientation, SharePoint and Teams walkthrough, DWx platform introduction, security awareness basics</a:t>
            </a:r>
          </a:p>
          <a:p>
            <a:pPr lvl="0" indent="0" marL="0">
              <a:buNone/>
            </a:pPr>
            <a:r>
              <a:rPr b="1"/>
              <a:t>Day 3 — People &amp; Culture</a:t>
            </a:r>
          </a:p>
          <a:p>
            <a:pPr lvl="0" indent="0" marL="0">
              <a:buNone/>
            </a:pPr>
            <a:r>
              <a:rPr/>
              <a:t>HR orientation, benefits enrolment, company values workshop, meet your buddy</a:t>
            </a:r>
          </a:p>
          <a:p>
            <a:pPr lvl="0" indent="0" marL="0">
              <a:buNone/>
            </a:pPr>
            <a:r>
              <a:rPr b="1"/>
              <a:t>Day 4 — Your Role</a:t>
            </a:r>
          </a:p>
          <a:p>
            <a:pPr lvl="0" indent="0" marL="0">
              <a:buNone/>
            </a:pPr>
            <a:r>
              <a:rPr/>
              <a:t>Team introduction, role-specific training begins, review 90-day objectives with manager</a:t>
            </a:r>
          </a:p>
          <a:p>
            <a:pPr lvl="0" indent="0" marL="0">
              <a:buNone/>
            </a:pPr>
            <a:r>
              <a:rPr b="1"/>
              <a:t>Day 5 — Compliance</a:t>
            </a:r>
          </a:p>
          <a:p>
            <a:pPr lvl="0" indent="0" marL="0">
              <a:buNone/>
            </a:pPr>
            <a:r>
              <a:rPr/>
              <a:t>Mandatory policy acknowledgements, cybersecurity training, WHS induction, payroll setup</a:t>
            </a:r>
          </a:p>
          <a:p>
            <a:pPr lvl="0" indent="0" marL="0">
              <a:buNone/>
            </a:pPr>
            <a:r>
              <a:rPr/>
              <a:t>2 / 6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Key Policies to Know</a:t>
            </a:r>
          </a:p>
          <a:p>
            <a:pPr lvl="0" indent="0" marL="0">
              <a:buNone/>
            </a:pPr>
            <a:r>
              <a:rPr/>
              <a:t>You will be asked to acknowledge these policies through the DWx Policy Manager in your first week:</a:t>
            </a:r>
          </a:p>
          <a:p>
            <a:pPr lvl="0"/>
            <a:r>
              <a:rPr/>
              <a:t>Code of Conduct</a:t>
            </a:r>
          </a:p>
          <a:p>
            <a:pPr lvl="0"/>
            <a:r>
              <a:rPr/>
              <a:t>Information Security Policy</a:t>
            </a:r>
          </a:p>
          <a:p>
            <a:pPr lvl="0"/>
            <a:r>
              <a:rPr/>
              <a:t>Acceptable Use Policy</a:t>
            </a:r>
          </a:p>
          <a:p>
            <a:pPr lvl="0"/>
            <a:r>
              <a:rPr/>
              <a:t>Workplace Harassment Policy</a:t>
            </a:r>
          </a:p>
          <a:p>
            <a:pPr lvl="0"/>
            <a:r>
              <a:rPr/>
              <a:t>Leave Management Policy</a:t>
            </a:r>
          </a:p>
          <a:p>
            <a:pPr lvl="0"/>
            <a:r>
              <a:rPr/>
              <a:t>Data Classification Policy</a:t>
            </a:r>
          </a:p>
          <a:p>
            <a:pPr lvl="0"/>
            <a:r>
              <a:rPr/>
              <a:t>Work Health &amp; Safety Policy</a:t>
            </a:r>
          </a:p>
          <a:p>
            <a:pPr lvl="0"/>
            <a:r>
              <a:rPr/>
              <a:t>Privacy Policy</a:t>
            </a:r>
          </a:p>
          <a:p>
            <a:pPr lvl="0"/>
            <a:r>
              <a:rPr/>
              <a:t>Social Media Policy</a:t>
            </a:r>
          </a:p>
          <a:p>
            <a:pPr lvl="0"/>
            <a:r>
              <a:rPr/>
              <a:t>Diversity &amp; Inclusion Policy</a:t>
            </a:r>
          </a:p>
          <a:p>
            <a:pPr lvl="0" indent="0" marL="0">
              <a:buNone/>
            </a:pPr>
            <a:r>
              <a:rPr b="1"/>
              <a:t>Access policies anytime:</a:t>
            </a:r>
            <a:r>
              <a:rPr/>
              <a:t> Visit the Policy Hub at </a:t>
            </a:r>
            <a:r>
              <a:rPr i="1"/>
              <a:t>PolicyHub.aspx</a:t>
            </a:r>
            <a:r>
              <a:rPr/>
              <a:t> in the DWx Policy Manager portal to browse, search, and acknowledge policies.</a:t>
            </a:r>
          </a:p>
          <a:p>
            <a:pPr lvl="0" indent="0" marL="0">
              <a:buNone/>
            </a:pPr>
            <a:r>
              <a:rPr/>
              <a:t>3 / 6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Benefits &amp; Perks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Financial</a:t>
            </a:r>
          </a:p>
          <a:p>
            <a:pPr lvl="0"/>
            <a:r>
              <a:rPr/>
              <a:t>Competitive salary with annual review</a:t>
            </a:r>
          </a:p>
          <a:p>
            <a:pPr lvl="0"/>
            <a:r>
              <a:rPr/>
              <a:t>Superannuation: 12% employer contribution</a:t>
            </a:r>
          </a:p>
          <a:p>
            <a:pPr lvl="0"/>
            <a:r>
              <a:rPr/>
              <a:t>Employee share purchase plan</a:t>
            </a:r>
          </a:p>
          <a:p>
            <a:pPr lvl="0"/>
            <a:r>
              <a:rPr/>
              <a:t>Salary packaging options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Leave</a:t>
            </a:r>
          </a:p>
          <a:p>
            <a:pPr lvl="0"/>
            <a:r>
              <a:rPr/>
              <a:t>20 days annual leave + 17.5% loading</a:t>
            </a:r>
          </a:p>
          <a:p>
            <a:pPr lvl="0"/>
            <a:r>
              <a:rPr/>
              <a:t>10 days personal/sick leave</a:t>
            </a:r>
          </a:p>
          <a:p>
            <a:pPr lvl="0"/>
            <a:r>
              <a:rPr/>
              <a:t>16 weeks paid parental leave (primary)</a:t>
            </a:r>
          </a:p>
          <a:p>
            <a:pPr lvl="0"/>
            <a:r>
              <a:rPr/>
              <a:t>5 days study leave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Wellbeing</a:t>
            </a:r>
          </a:p>
          <a:p>
            <a:pPr lvl="0"/>
            <a:r>
              <a:rPr/>
              <a:t>Employee Assistance Programme (EAP)</a:t>
            </a:r>
          </a:p>
          <a:p>
            <a:pPr lvl="0"/>
            <a:r>
              <a:rPr/>
              <a:t>$500 annual wellness allowance</a:t>
            </a:r>
          </a:p>
          <a:p>
            <a:pPr lvl="0"/>
            <a:r>
              <a:rPr/>
              <a:t>Flexible work arrangements</a:t>
            </a:r>
          </a:p>
          <a:p>
            <a:pPr lvl="0"/>
            <a:r>
              <a:rPr/>
              <a:t>Mental health first aiders on every floor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Growth</a:t>
            </a:r>
          </a:p>
          <a:p>
            <a:pPr lvl="0"/>
            <a:r>
              <a:rPr/>
              <a:t>$2,000 annual learning budget</a:t>
            </a:r>
          </a:p>
          <a:p>
            <a:pPr lvl="0"/>
            <a:r>
              <a:rPr/>
              <a:t>Conference attendance support</a:t>
            </a:r>
          </a:p>
          <a:p>
            <a:pPr lvl="0"/>
            <a:r>
              <a:rPr/>
              <a:t>Internal mentoring programme</a:t>
            </a:r>
          </a:p>
          <a:p>
            <a:pPr lvl="0"/>
            <a:r>
              <a:rPr/>
              <a:t>Career development pathways</a:t>
            </a:r>
          </a:p>
          <a:p>
            <a:pPr lvl="0" indent="0" marL="0">
              <a:buNone/>
            </a:pPr>
            <a:r>
              <a:rPr/>
              <a:t>4 / 6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Your 90-Day Journey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Days 1-30: Learn</a:t>
            </a:r>
          </a:p>
          <a:p>
            <a:pPr lvl="0"/>
            <a:r>
              <a:rPr/>
              <a:t>Complete all mandatory training</a:t>
            </a:r>
          </a:p>
          <a:p>
            <a:pPr lvl="0"/>
            <a:r>
              <a:rPr/>
              <a:t>Understand team goals and processes</a:t>
            </a:r>
          </a:p>
          <a:p>
            <a:pPr lvl="0"/>
            <a:r>
              <a:rPr/>
              <a:t>Build relationships with key stakeholders</a:t>
            </a:r>
          </a:p>
          <a:p>
            <a:pPr lvl="0"/>
            <a:r>
              <a:rPr/>
              <a:t>Month 1 check-in with manager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Days 31-60: Contribute</a:t>
            </a:r>
          </a:p>
          <a:p>
            <a:pPr lvl="0"/>
            <a:r>
              <a:rPr/>
              <a:t>Take ownership of initial projects</a:t>
            </a:r>
          </a:p>
          <a:p>
            <a:pPr lvl="0"/>
            <a:r>
              <a:rPr/>
              <a:t>Provide fresh-eyes feedback</a:t>
            </a:r>
          </a:p>
          <a:p>
            <a:pPr lvl="0"/>
            <a:r>
              <a:rPr/>
              <a:t>Deepen technical/domain knowledge</a:t>
            </a:r>
          </a:p>
          <a:p>
            <a:pPr lvl="0"/>
            <a:r>
              <a:rPr/>
              <a:t>Mid-probation review with manager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Days 61-90: Own</a:t>
            </a:r>
          </a:p>
          <a:p>
            <a:pPr lvl="0"/>
            <a:r>
              <a:rPr/>
              <a:t>Deliver meaningful outcomes independently</a:t>
            </a:r>
          </a:p>
          <a:p>
            <a:pPr lvl="0"/>
            <a:r>
              <a:rPr/>
              <a:t>Mentor newer joiners if applicable</a:t>
            </a:r>
          </a:p>
          <a:p>
            <a:pPr lvl="0"/>
            <a:r>
              <a:rPr/>
              <a:t>Set goals for the next quarter</a:t>
            </a:r>
          </a:p>
          <a:p>
            <a:pPr lvl="0"/>
            <a:r>
              <a:rPr/>
              <a:t>Final probation review — confirmation of appointment</a:t>
            </a:r>
          </a:p>
          <a:p>
            <a:pPr lvl="0" indent="0" marL="0">
              <a:buNone/>
            </a:pPr>
            <a:r>
              <a:rPr/>
              <a:t>5 / 6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Key Contacts</a:t>
            </a:r>
          </a:p>
          <a:p>
            <a:pPr lvl="0" indent="0" marL="0">
              <a:buNone/>
            </a:pPr>
            <a:r>
              <a:rPr/>
              <a:t>Your support network at First Digital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Your Manager</a:t>
            </a:r>
          </a:p>
          <a:p>
            <a:pPr lvl="0" indent="0" marL="0">
              <a:buNone/>
            </a:pPr>
            <a:r>
              <a:rPr/>
              <a:t>Refer to your offer letter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Your Buddy</a:t>
            </a:r>
          </a:p>
          <a:p>
            <a:pPr lvl="0" indent="0" marL="0">
              <a:buNone/>
            </a:pPr>
            <a:r>
              <a:rPr/>
              <a:t>Assigned on Day 1 — your go-to for questions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HR Team</a:t>
            </a:r>
          </a:p>
          <a:p>
            <a:pPr lvl="0" indent="0" marL="0">
              <a:buNone/>
            </a:pPr>
            <a:r>
              <a:rPr/>
              <a:t>hr@firstdigital.com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IT Service Desk</a:t>
            </a:r>
          </a:p>
          <a:p>
            <a:pPr lvl="0" indent="0" marL="0">
              <a:buNone/>
            </a:pPr>
            <a:r>
              <a:rPr/>
              <a:t>servicedesk@firstdigital.com | Ext 4357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Facilities</a:t>
            </a:r>
          </a:p>
          <a:p>
            <a:pPr lvl="0" indent="0" marL="0">
              <a:buNone/>
            </a:pPr>
            <a:r>
              <a:rPr/>
              <a:t>facilities@firstdigital.com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EAP (Confidential)</a:t>
            </a:r>
          </a:p>
          <a:p>
            <a:pPr lvl="0" indent="0" marL="0">
              <a:buNone/>
            </a:pPr>
            <a:r>
              <a:rPr/>
              <a:t>1800-EAP-HELP (24/7)</a:t>
            </a:r>
          </a:p>
          <a:p>
            <a:pPr lvl="0" indent="0" marL="0">
              <a:buNone/>
            </a:pPr>
            <a:r>
              <a:rPr/>
              <a:t>Welcome aboard — we are glad you are here!</a:t>
            </a:r>
          </a:p>
          <a:p>
            <a:pPr lvl="0" indent="0" marL="0">
              <a:buNone/>
            </a:pPr>
            <a:r>
              <a:rPr/>
              <a:t>6 / 6 • First Digital — DWx Policy Manager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Employee Induction</dc:title>
  <dc:creator>First Digital — DWx Policy Manager</dc:creator>
  <cp:keywords/>
  <cp:category>Human Resources</cp:category>
  <dcterms:created xsi:type="dcterms:W3CDTF">2026-04-11T22:11:55Z</dcterms:created>
  <dcterms:modified xsi:type="dcterms:W3CDTF">2026-04-11T22:11:55Z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ormat">
    <vt:lpwstr>Presentation</vt:lpwstr>
  </property>
</Properties>
</file>