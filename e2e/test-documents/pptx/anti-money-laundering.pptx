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Anti-Money Laundering Awareness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Digital — DWx Policy Manager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Anti-Money Laundering Awareness</a:t>
            </a:r>
          </a:p>
          <a:p>
            <a:pPr lvl="0" indent="0" marL="0">
              <a:buNone/>
            </a:pPr>
            <a:r>
              <a:rPr/>
              <a:t>First Digital — Mandatory Compliance Training 2026</a:t>
            </a:r>
          </a:p>
          <a:p>
            <a:pPr lvl="0" indent="0" marL="0">
              <a:buNone/>
            </a:pPr>
            <a:r>
              <a:rPr/>
              <a:t>Money laundering costs the global economy an estimated $800 billion to $2 trillion annually. This training helps you recognise and report suspicious activity.</a:t>
            </a:r>
          </a:p>
          <a:p>
            <a:pPr lvl="0" indent="0" marL="0">
              <a:buNone/>
            </a:pPr>
            <a:r>
              <a:rPr b="1"/>
              <a:t>Legal obligation:</a:t>
            </a:r>
            <a:r>
              <a:rPr/>
              <a:t> Under the Anti-Money Laundering and Counter-Terrorism Financing Act 2006, failure to report suspected money laundering is a criminal offence carrying penalties of up to 2 years imprisonment.</a:t>
            </a:r>
          </a:p>
          <a:p>
            <a:pPr lvl="0" indent="0" marL="0">
              <a:buNone/>
            </a:pPr>
            <a:r>
              <a:rPr/>
              <a:t>1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Three Stages of Money Laundering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Placement</a:t>
            </a:r>
          </a:p>
          <a:p>
            <a:pPr lvl="0" indent="0" marL="0">
              <a:buNone/>
            </a:pPr>
            <a:r>
              <a:rPr/>
              <a:t>Illegally obtained money is introduced into the financial system through deposits, purchases, or currency exchange.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Layering</a:t>
            </a:r>
          </a:p>
          <a:p>
            <a:pPr lvl="0" indent="0" marL="0">
              <a:buNone/>
            </a:pPr>
            <a:r>
              <a:rPr/>
              <a:t>Complex transactions disguise the money trail — transfers between accounts, shell companies, and cross-border movement.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Integration</a:t>
            </a:r>
          </a:p>
          <a:p>
            <a:pPr lvl="0" indent="0" marL="0">
              <a:buNone/>
            </a:pPr>
            <a:r>
              <a:rPr/>
              <a:t>The laundered money re-enters the legitimate economy through property purchases, business investments, or luxury goods.</a:t>
            </a:r>
          </a:p>
          <a:p>
            <a:pPr lvl="0" indent="0" marL="0">
              <a:buNone/>
            </a:pPr>
            <a:r>
              <a:rPr/>
              <a:t>2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Red Flags — What to Watch For</a:t>
            </a:r>
          </a:p>
          <a:p>
            <a:pPr lvl="0"/>
            <a:r>
              <a:rPr/>
              <a:t>Client reluctant to provide identification or verification documents</a:t>
            </a:r>
          </a:p>
          <a:p>
            <a:pPr lvl="0"/>
            <a:r>
              <a:rPr/>
              <a:t>Transactions that appear unnecessarily complex or lack business rationale</a:t>
            </a:r>
          </a:p>
          <a:p>
            <a:pPr lvl="0"/>
            <a:r>
              <a:rPr/>
              <a:t>Requests to split transactions to avoid reporting thresholds</a:t>
            </a:r>
          </a:p>
          <a:p>
            <a:pPr lvl="0"/>
            <a:r>
              <a:rPr/>
              <a:t>Payments from third parties unrelated to the transaction</a:t>
            </a:r>
          </a:p>
          <a:p>
            <a:pPr lvl="0"/>
            <a:r>
              <a:rPr/>
              <a:t>Clients using multiple accounts or entities for no clear purpose</a:t>
            </a:r>
          </a:p>
          <a:p>
            <a:pPr lvl="0"/>
            <a:r>
              <a:rPr/>
              <a:t>Unusually large cash payments or requests for cash refunds</a:t>
            </a:r>
          </a:p>
          <a:p>
            <a:pPr lvl="0"/>
            <a:r>
              <a:rPr/>
              <a:t>Clients from high-risk jurisdictions with no clear business connection</a:t>
            </a:r>
          </a:p>
          <a:p>
            <a:pPr lvl="0"/>
            <a:r>
              <a:rPr/>
              <a:t>Rapid movement of funds through accounts with minimal activity</a:t>
            </a:r>
          </a:p>
          <a:p>
            <a:pPr lvl="0"/>
            <a:r>
              <a:rPr/>
              <a:t>Client's business activities inconsistent with their stated profile</a:t>
            </a:r>
          </a:p>
          <a:p>
            <a:pPr lvl="0"/>
            <a:r>
              <a:rPr/>
              <a:t>Pressure to complete transactions quickly without proper due diligence</a:t>
            </a:r>
          </a:p>
          <a:p>
            <a:pPr lvl="0" indent="0" marL="0">
              <a:buNone/>
            </a:pPr>
            <a:r>
              <a:rPr/>
              <a:t>3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Your Obligations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Know Your Customer (KYC)</a:t>
            </a:r>
          </a:p>
          <a:p>
            <a:pPr lvl="0"/>
            <a:r>
              <a:rPr/>
              <a:t>Verify client identity using approved documentation before onboarding</a:t>
            </a:r>
          </a:p>
          <a:p>
            <a:pPr lvl="0"/>
            <a:r>
              <a:rPr/>
              <a:t>Conduct enhanced due diligence for high-risk clients (PEPs, sanctioned countries)</a:t>
            </a:r>
          </a:p>
          <a:p>
            <a:pPr lvl="0"/>
            <a:r>
              <a:rPr/>
              <a:t>Keep client records up to date and review periodically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Report Suspicious Activity</a:t>
            </a:r>
          </a:p>
          <a:p>
            <a:pPr lvl="0"/>
            <a:r>
              <a:rPr/>
              <a:t>Report internally to the Money Laundering Reporting Officer (MLRO) immediately</a:t>
            </a:r>
          </a:p>
          <a:p>
            <a:pPr lvl="0"/>
            <a:r>
              <a:rPr/>
              <a:t>Do NOT alert the client that a report has been made ("tipping off" is a criminal offence)</a:t>
            </a:r>
          </a:p>
          <a:p>
            <a:pPr lvl="0"/>
            <a:r>
              <a:rPr/>
              <a:t>Document your concerns clearly with dates, amounts, and parties involved</a:t>
            </a:r>
          </a:p>
          <a:p>
            <a:pPr lvl="0" indent="0" marL="0">
              <a:buNone/>
            </a:pPr>
            <a:r>
              <a:rPr b="1"/>
              <a:t>MLRO Contact:</a:t>
            </a:r>
            <a:r>
              <a:rPr/>
              <a:t> compliance@firstdigital.com • Ext. 4600 • Reports are confidential</a:t>
            </a:r>
          </a:p>
          <a:p>
            <a:pPr lvl="0" indent="0" marL="0">
              <a:buNone/>
            </a:pPr>
            <a:r>
              <a:rPr/>
              <a:t>4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Takeaways</a:t>
            </a:r>
          </a:p>
          <a:p>
            <a:pPr lvl="0" indent="0" marL="0">
              <a:buNone/>
            </a:pPr>
            <a:r>
              <a:rPr/>
              <a:t>Protecting First Digital from financial crime</a:t>
            </a:r>
          </a:p>
          <a:p>
            <a:pPr lvl="0" indent="-342900" marL="342900">
              <a:buAutoNum type="arabicPeriod"/>
            </a:pPr>
            <a:r>
              <a:rPr/>
              <a:t>Always verify client identity before engaging in business</a:t>
            </a:r>
          </a:p>
          <a:p>
            <a:pPr lvl="0" indent="-342900" marL="342900">
              <a:buAutoNum type="arabicPeriod"/>
            </a:pPr>
            <a:r>
              <a:rPr/>
              <a:t>Watch for transactions that seem unusual or lack business sense</a:t>
            </a:r>
          </a:p>
          <a:p>
            <a:pPr lvl="0" indent="-342900" marL="342900">
              <a:buAutoNum type="arabicPeriod"/>
            </a:pPr>
            <a:r>
              <a:rPr/>
              <a:t>Report suspicions to the MLRO immediately and confidentially</a:t>
            </a:r>
          </a:p>
          <a:p>
            <a:pPr lvl="0" indent="-342900" marL="342900">
              <a:buAutoNum type="arabicPeriod"/>
            </a:pPr>
            <a:r>
              <a:rPr/>
              <a:t>Never tip off a client about a suspicious activity report</a:t>
            </a:r>
          </a:p>
          <a:p>
            <a:pPr lvl="0" indent="-342900" marL="342900">
              <a:buAutoNum type="arabicPeriod"/>
            </a:pPr>
            <a:r>
              <a:rPr/>
              <a:t>Keep thorough records of all client interactions and transactions</a:t>
            </a:r>
          </a:p>
          <a:p>
            <a:pPr lvl="0" indent="0" marL="0">
              <a:buNone/>
            </a:pPr>
            <a:r>
              <a:rPr/>
              <a:t>5 / 5 • First Digital — DWx Policy Manager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Anti-Money Laundering Awareness</dc:title>
  <dc:creator>First Digital — DWx Policy Manager</dc:creator>
  <cp:keywords/>
  <cp:category>Legal &amp; Compliance</cp:category>
  <dcterms:created xsi:type="dcterms:W3CDTF">2026-04-11T22:11:50Z</dcterms:created>
  <dcterms:modified xsi:type="dcterms:W3CDTF">2026-04-11T22:11:50Z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">
    <vt:lpwstr>Presentation</vt:lpwstr>
  </property>
</Properties>
</file>